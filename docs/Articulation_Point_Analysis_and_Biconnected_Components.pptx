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9ECDE-70F3-D6B3-19D1-C409ED70F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0364A-922D-178F-5744-FCF4709D9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EFF23-8E21-1C3D-48B7-86D984182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F8093-1326-4452-A0B3-E5BDD715E7A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07241-69F6-B4EB-8E54-25CD109CA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5E367-B184-2E53-AAEF-1BF5A844E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6576-C9FD-4F5F-BE98-C432F91FE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342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B13E-73FA-07C7-F681-AF161E47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2AA11-3469-27F6-F446-B5828D13F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90A12-2928-FB2C-3A3B-AB9D78913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F8093-1326-4452-A0B3-E5BDD715E7A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AA1E5-A1D3-5773-AE50-C916ECDA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DCE66-9029-8197-3FEE-B0C31C454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6576-C9FD-4F5F-BE98-C432F91FE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72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FA82E-249B-EFB5-B050-E988016C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1D348-83A3-A3E8-8FE1-F62E46681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1777A-32D7-5FBD-3BE2-8CC6D59FE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F8093-1326-4452-A0B3-E5BDD715E7A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860D8-821C-0E97-032E-08171950E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6D32B-C682-EE5F-53E8-1CEC9C652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6576-C9FD-4F5F-BE98-C432F91FE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289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7D41A-F0D2-AC39-A508-663EC52C5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399A6-E9F3-5D24-16E2-AE1C1BF00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9F437-8EF7-6631-E5D5-3E91D876A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43175-9162-5C93-7394-B15583446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F8093-1326-4452-A0B3-E5BDD715E7A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55AFC-25DC-C578-861D-93492AED6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A4F75-E53D-C91F-0E0D-00DCE55F3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6576-C9FD-4F5F-BE98-C432F91FE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48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D07E5-6C53-CC6B-323E-E0749734F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F250D-7C57-8E66-60AB-CE1CE1108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C44F9-F3AE-5765-D673-B328B2088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CD2E39-1AE2-0D33-2E3E-5AA4C33217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D7B653-FC72-D2E1-AFDF-1CF785AE57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33862D-5E0C-868A-BFBD-42526643D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F8093-1326-4452-A0B3-E5BDD715E7A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3F18B7-6D6B-00D7-EBEE-2D7937854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B4CBF2-F829-0D92-DF26-089037B37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6576-C9FD-4F5F-BE98-C432F91FE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243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687E7-0AE7-CE95-DD71-AE2F156E5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9B1B3-686D-0096-E650-F60FF1BE6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F8093-1326-4452-A0B3-E5BDD715E7A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B6F55-FE5C-3F49-4A59-154226CF4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AAF30-A1AC-5090-7E0F-8D068208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6576-C9FD-4F5F-BE98-C432F91FE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360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470EB5-62A8-D0CB-95E6-1582C236D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F8093-1326-4452-A0B3-E5BDD715E7A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662301-F6CE-5257-7B7D-F034392D2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88D42-8DF5-2E5E-B461-ED3E87008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6576-C9FD-4F5F-BE98-C432F91FE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282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77739-E40A-A6A2-02A1-E3E3A5822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EB263-A099-ED8E-D736-03E9445B1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71BFDD-A35B-562A-81F2-1E24A0606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BB18A-F517-967A-B13F-F63D6CEF3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F8093-1326-4452-A0B3-E5BDD715E7A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73C25-7CC0-E51B-BB30-117277540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C8E03-E940-7AB0-82D6-54B45B9AD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6576-C9FD-4F5F-BE98-C432F91FE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363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80A9A-AC51-DBEF-BA9C-E2BE8367A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5BD181-BB1F-849F-7860-DA68BA7E5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41390-24FE-974C-7850-20E6EC8D8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7DAE8-37D0-6E3F-1834-0B22C6F57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F8093-1326-4452-A0B3-E5BDD715E7A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06363-BB9E-F94B-7467-DF0E13C5D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D0B4C-BAE0-B8D1-A8CF-FD9F84EC8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6576-C9FD-4F5F-BE98-C432F91FE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480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C620-7C03-1D4D-4765-D633E6CC1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5EDED-8C77-AD72-576B-FF77C0F0C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642CD-D97D-5275-2D95-7E29CBB9C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F8093-1326-4452-A0B3-E5BDD715E7A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38172-0A23-595A-AFAC-37E8B435D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95B70-2252-CDDC-3231-1D6C1FEDF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6576-C9FD-4F5F-BE98-C432F91FE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249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909DA6-20E3-E12C-7FFE-16F340F3C5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4DD069-D760-E77C-2823-DB254553C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55C93-D1FA-7A5E-C209-B0F8694D5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F8093-1326-4452-A0B3-E5BDD715E7A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4B470-958D-4E7F-4992-BD3F99CA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9EACD-E4FB-9AFE-138E-FA70D6E66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6576-C9FD-4F5F-BE98-C432F91FE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89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2CC46-BC23-DC35-7CD0-5B6A458CD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EB638-727E-F8AC-DC1F-F3B126AB4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DA890-23C3-50C7-3976-25F4AD6047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F8093-1326-4452-A0B3-E5BDD715E7A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2E270-6906-BEC0-9C93-BFC253ABF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806A2-2FF1-A678-287C-D2204839C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06576-C9FD-4F5F-BE98-C432F91FE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553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6C8088-480E-1C4D-0632-D8BC3F15D49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7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E3C16E-58F0-4C1C-0409-2D7A5C8B7E12}"/>
              </a:ext>
            </a:extLst>
          </p:cNvPr>
          <p:cNvSpPr/>
          <p:nvPr/>
        </p:nvSpPr>
        <p:spPr>
          <a:xfrm>
            <a:off x="0" y="5349240"/>
            <a:ext cx="12191695" cy="411480"/>
          </a:xfrm>
          <a:prstGeom prst="rect">
            <a:avLst/>
          </a:prstGeom>
          <a:solidFill>
            <a:srgbClr val="6E76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45BD7D4-F41A-89DA-C214-20FED65A0194}"/>
              </a:ext>
            </a:extLst>
          </p:cNvPr>
          <p:cNvSpPr/>
          <p:nvPr/>
        </p:nvSpPr>
        <p:spPr>
          <a:xfrm>
            <a:off x="8869680" y="868680"/>
            <a:ext cx="2103120" cy="2103120"/>
          </a:xfrm>
          <a:prstGeom prst="ellipse">
            <a:avLst/>
          </a:prstGeom>
          <a:solidFill>
            <a:srgbClr val="D84E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F8E1A86-043F-8D95-19B1-1E527934BD50}"/>
              </a:ext>
            </a:extLst>
          </p:cNvPr>
          <p:cNvSpPr/>
          <p:nvPr/>
        </p:nvSpPr>
        <p:spPr>
          <a:xfrm>
            <a:off x="9738360" y="1600200"/>
            <a:ext cx="1051560" cy="1051560"/>
          </a:xfrm>
          <a:prstGeom prst="ellipse">
            <a:avLst/>
          </a:prstGeom>
          <a:solidFill>
            <a:srgbClr val="0B9E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EA47DC-34FE-CDC2-9258-242CAE282E82}"/>
              </a:ext>
            </a:extLst>
          </p:cNvPr>
          <p:cNvSpPr txBox="1"/>
          <p:nvPr/>
        </p:nvSpPr>
        <p:spPr>
          <a:xfrm>
            <a:off x="640080" y="914400"/>
            <a:ext cx="749808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Aptos Display" panose="020B0004020202020204" pitchFamily="34" charset="0"/>
              </a:rPr>
              <a:t>Articulation Point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7815F-A1C3-1E2E-C106-06477E0B2CEE}"/>
              </a:ext>
            </a:extLst>
          </p:cNvPr>
          <p:cNvSpPr txBox="1"/>
          <p:nvPr/>
        </p:nvSpPr>
        <p:spPr>
          <a:xfrm>
            <a:off x="658368" y="1874520"/>
            <a:ext cx="813816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E1D5CB"/>
                </a:solidFill>
                <a:latin typeface="Aptos" panose="020B0004020202020204" pitchFamily="34" charset="0"/>
              </a:rPr>
              <a:t>Biconnected Components, Tarjan-Style Graph Analysis, and Interactive Reliability Visualization</a:t>
            </a:r>
            <a:endParaRPr lang="en-IN" sz="2000">
              <a:solidFill>
                <a:srgbClr val="E1D5CB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49D6C3-6F12-E3E6-3FB7-F305585D71F0}"/>
              </a:ext>
            </a:extLst>
          </p:cNvPr>
          <p:cNvSpPr txBox="1"/>
          <p:nvPr/>
        </p:nvSpPr>
        <p:spPr>
          <a:xfrm>
            <a:off x="676656" y="2926080"/>
            <a:ext cx="585216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>
                <a:solidFill>
                  <a:srgbClr val="F0E8E2"/>
                </a:solidFill>
                <a:latin typeface="Aptos" panose="020B0004020202020204" pitchFamily="34" charset="0"/>
              </a:rPr>
              <a:t>Prepared by Code Crew Nexus</a:t>
            </a:r>
          </a:p>
          <a:p>
            <a:r>
              <a:rPr lang="en-IN" sz="1600">
                <a:solidFill>
                  <a:srgbClr val="F0E8E2"/>
                </a:solidFill>
                <a:latin typeface="Aptos" panose="020B0004020202020204" pitchFamily="34" charset="0"/>
              </a:rPr>
              <a:t>M. Sai Krishna, Rishit Ghosh, Md. Abdul Rayain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85D6C3-630D-829E-DF99-01CB93D51457}"/>
              </a:ext>
            </a:extLst>
          </p:cNvPr>
          <p:cNvSpPr txBox="1"/>
          <p:nvPr/>
        </p:nvSpPr>
        <p:spPr>
          <a:xfrm>
            <a:off x="676656" y="5623560"/>
            <a:ext cx="694944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FCFAF8"/>
                </a:solidFill>
                <a:latin typeface="Aptos" panose="020B0004020202020204" pitchFamily="34" charset="0"/>
              </a:rPr>
              <a:t>Generated on 05 April 2026</a:t>
            </a:r>
            <a:endParaRPr lang="en-IN" sz="1100">
              <a:solidFill>
                <a:srgbClr val="FCFAF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98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934171-D914-8AD3-45AB-115651EB03D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27A758-E60B-23F6-139A-0B94436677E8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17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16846-EC22-5946-F04C-85F37650414B}"/>
              </a:ext>
            </a:extLst>
          </p:cNvPr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6E76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F004D-CE64-5FC4-9C72-74A8D208A6FE}"/>
              </a:ext>
            </a:extLst>
          </p:cNvPr>
          <p:cNvSpPr txBox="1"/>
          <p:nvPr/>
        </p:nvSpPr>
        <p:spPr>
          <a:xfrm>
            <a:off x="411480" y="155448"/>
            <a:ext cx="804672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Project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FF0F1-AB6D-C577-2030-798FE3478880}"/>
              </a:ext>
            </a:extLst>
          </p:cNvPr>
          <p:cNvSpPr txBox="1"/>
          <p:nvPr/>
        </p:nvSpPr>
        <p:spPr>
          <a:xfrm>
            <a:off x="438912" y="1097280"/>
            <a:ext cx="1078992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695547"/>
                </a:solidFill>
                <a:latin typeface="Aptos" panose="020B0004020202020204" pitchFamily="34" charset="0"/>
              </a:rPr>
              <a:t>Why this DAA PBL matters</a:t>
            </a:r>
            <a:endParaRPr lang="en-IN" sz="1100">
              <a:solidFill>
                <a:srgbClr val="695547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246373-E22D-E900-A5A0-B18BCE1FC21C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0E8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16444D-4C6F-0771-D4E3-3A415FD043FA}"/>
              </a:ext>
            </a:extLst>
          </p:cNvPr>
          <p:cNvSpPr txBox="1"/>
          <p:nvPr/>
        </p:nvSpPr>
        <p:spPr>
          <a:xfrm>
            <a:off x="384048" y="6574536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>
                <a:solidFill>
                  <a:srgbClr val="554133"/>
                </a:solidFill>
                <a:latin typeface="Aptos" panose="020B0004020202020204" pitchFamily="34" charset="0"/>
              </a:rPr>
              <a:t>Articulation Point Analysis | DAA PBL | Code Crew Nexus</a:t>
            </a:r>
            <a:endParaRPr lang="en-IN" sz="900">
              <a:solidFill>
                <a:srgbClr val="554133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4F7EA4-FE74-56AA-1952-81ECE8DD2275}"/>
              </a:ext>
            </a:extLst>
          </p:cNvPr>
          <p:cNvSpPr/>
          <p:nvPr/>
        </p:nvSpPr>
        <p:spPr>
          <a:xfrm>
            <a:off x="502920" y="1417320"/>
            <a:ext cx="11064240" cy="4754880"/>
          </a:xfrm>
          <a:prstGeom prst="rect">
            <a:avLst/>
          </a:prstGeom>
          <a:solidFill>
            <a:srgbClr val="FFFFFF"/>
          </a:solidFill>
          <a:ln w="15875"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EEA690-7E8F-FD86-355E-4A40C15ACDF5}"/>
              </a:ext>
            </a:extLst>
          </p:cNvPr>
          <p:cNvSpPr txBox="1"/>
          <p:nvPr/>
        </p:nvSpPr>
        <p:spPr>
          <a:xfrm>
            <a:off x="822960" y="1691640"/>
            <a:ext cx="10241280" cy="273921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3B291E"/>
                </a:solidFill>
                <a:latin typeface="Aptos" panose="020B0004020202020204" pitchFamily="34" charset="0"/>
              </a:rPr>
              <a:t>The project studies graph reliability through articulation points and biconnected components in undirected networks.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3B291E"/>
                </a:solidFill>
                <a:latin typeface="Aptos" panose="020B0004020202020204" pitchFamily="34" charset="0"/>
              </a:rPr>
              <a:t>It supports two workflows: loading a CSV edge list and generating a scale-free network using preferential attachment.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3B291E"/>
                </a:solidFill>
                <a:latin typeface="Aptos" panose="020B0004020202020204" pitchFamily="34" charset="0"/>
              </a:rPr>
              <a:t>The analyzer reports fragile cut vertices, robust graph blocks, bridge-like bottlenecks, and graph-level classification.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3B291E"/>
                </a:solidFill>
                <a:latin typeface="Aptos" panose="020B0004020202020204" pitchFamily="34" charset="0"/>
              </a:rPr>
              <a:t>The CLI and HTML visualizer together make the project useful for demos, analysis, and report-ready interpretation.</a:t>
            </a:r>
            <a:endParaRPr lang="en-IN" sz="1900">
              <a:solidFill>
                <a:srgbClr val="3B291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45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41207-B5F1-F49B-2269-C037B26BAFE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321F17-032D-D309-C7F3-E928295A0E44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17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E688ED-CC38-B0B5-7274-DA6AEDE03724}"/>
              </a:ext>
            </a:extLst>
          </p:cNvPr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6E76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8DD88-B38D-6C49-1417-A9E14AB975FF}"/>
              </a:ext>
            </a:extLst>
          </p:cNvPr>
          <p:cNvSpPr txBox="1"/>
          <p:nvPr/>
        </p:nvSpPr>
        <p:spPr>
          <a:xfrm>
            <a:off x="411480" y="155448"/>
            <a:ext cx="804672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Problem Statement And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4DB642-C762-F322-A552-7B774ACF7FF5}"/>
              </a:ext>
            </a:extLst>
          </p:cNvPr>
          <p:cNvSpPr txBox="1"/>
          <p:nvPr/>
        </p:nvSpPr>
        <p:spPr>
          <a:xfrm>
            <a:off x="438912" y="1097280"/>
            <a:ext cx="1078992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695547"/>
                </a:solidFill>
                <a:latin typeface="Aptos" panose="020B0004020202020204" pitchFamily="34" charset="0"/>
              </a:rPr>
              <a:t>What the project solves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93BA7E-5278-FB44-E096-AD978607CCC3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0E8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8FDE77-9758-10D2-3EF5-AC8096399E8A}"/>
              </a:ext>
            </a:extLst>
          </p:cNvPr>
          <p:cNvSpPr txBox="1"/>
          <p:nvPr/>
        </p:nvSpPr>
        <p:spPr>
          <a:xfrm>
            <a:off x="384048" y="6574536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>
                <a:solidFill>
                  <a:srgbClr val="554133"/>
                </a:solidFill>
                <a:latin typeface="Aptos" panose="020B0004020202020204" pitchFamily="34" charset="0"/>
              </a:rPr>
              <a:t>Articulation Point Analysis | DAA PBL | Code Crew Nexus</a:t>
            </a:r>
            <a:endParaRPr lang="en-IN" sz="900">
              <a:solidFill>
                <a:srgbClr val="554133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D88C31-1F26-72FD-F986-8CE30552523A}"/>
              </a:ext>
            </a:extLst>
          </p:cNvPr>
          <p:cNvSpPr/>
          <p:nvPr/>
        </p:nvSpPr>
        <p:spPr>
          <a:xfrm>
            <a:off x="502920" y="1508760"/>
            <a:ext cx="5257800" cy="4526280"/>
          </a:xfrm>
          <a:prstGeom prst="rect">
            <a:avLst/>
          </a:prstGeom>
          <a:solidFill>
            <a:srgbClr val="FFFFFF"/>
          </a:solidFill>
          <a:ln w="14605"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7676EE-600E-1E58-0E3F-28AEC014E68B}"/>
              </a:ext>
            </a:extLst>
          </p:cNvPr>
          <p:cNvSpPr txBox="1"/>
          <p:nvPr/>
        </p:nvSpPr>
        <p:spPr>
          <a:xfrm>
            <a:off x="731520" y="1719072"/>
            <a:ext cx="475488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2A170F"/>
                </a:solidFill>
                <a:latin typeface="Aptos Display" panose="020B0004020202020204" pitchFamily="34" charset="0"/>
              </a:rPr>
              <a:t>Problem Statement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BE1C50-9296-7B5D-885A-2D1F58F69DF8}"/>
              </a:ext>
            </a:extLst>
          </p:cNvPr>
          <p:cNvSpPr txBox="1"/>
          <p:nvPr/>
        </p:nvSpPr>
        <p:spPr>
          <a:xfrm>
            <a:off x="704088" y="2103120"/>
            <a:ext cx="4709160" cy="25135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Single-point failures can disconnect communication, transport, or dependency networks.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Articulation-point-only analysis reveals weak nodes but not the stronger internal block structure.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The project needed to evolve from a cut-vertex detector into a more complete reliability analyzer.</a:t>
            </a:r>
            <a:endParaRPr lang="en-IN" sz="1600">
              <a:solidFill>
                <a:srgbClr val="3B291E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F371F6-3151-CF25-AA73-662A32FB513C}"/>
              </a:ext>
            </a:extLst>
          </p:cNvPr>
          <p:cNvSpPr/>
          <p:nvPr/>
        </p:nvSpPr>
        <p:spPr>
          <a:xfrm>
            <a:off x="6080760" y="1508760"/>
            <a:ext cx="5257800" cy="4526280"/>
          </a:xfrm>
          <a:prstGeom prst="rect">
            <a:avLst/>
          </a:prstGeom>
          <a:solidFill>
            <a:srgbClr val="FCFAF8"/>
          </a:solidFill>
          <a:ln w="14605"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2CDA43-F3E1-554E-227E-37BC7E3C1913}"/>
              </a:ext>
            </a:extLst>
          </p:cNvPr>
          <p:cNvSpPr txBox="1"/>
          <p:nvPr/>
        </p:nvSpPr>
        <p:spPr>
          <a:xfrm>
            <a:off x="6309360" y="1719072"/>
            <a:ext cx="475488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2A170F"/>
                </a:solidFill>
                <a:latin typeface="Aptos Display" panose="020B0004020202020204" pitchFamily="34" charset="0"/>
              </a:rPr>
              <a:t>Objectives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033BAD-7ADE-0113-DE92-E9AF59C3A520}"/>
              </a:ext>
            </a:extLst>
          </p:cNvPr>
          <p:cNvSpPr txBox="1"/>
          <p:nvPr/>
        </p:nvSpPr>
        <p:spPr>
          <a:xfrm>
            <a:off x="6281928" y="2103120"/>
            <a:ext cx="4709160" cy="21852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Detect articulation points efficiently.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Extract biconnected components in the same traversal.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Classify the graph and summarize structural resilience.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Present the findings cleanly in terminal and visual form.</a:t>
            </a:r>
            <a:endParaRPr lang="en-IN" sz="1600">
              <a:solidFill>
                <a:srgbClr val="3B291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943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FA1FBA-564E-449C-2090-460126B707B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54F45C-2B30-B78B-2580-C670485A3292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17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A964E9-C65A-25B0-BBA9-F8D44B66070F}"/>
              </a:ext>
            </a:extLst>
          </p:cNvPr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6E76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DE4E1-35FD-B128-8FBA-6F09C1B7BA5B}"/>
              </a:ext>
            </a:extLst>
          </p:cNvPr>
          <p:cNvSpPr txBox="1"/>
          <p:nvPr/>
        </p:nvSpPr>
        <p:spPr>
          <a:xfrm>
            <a:off x="411480" y="155448"/>
            <a:ext cx="804672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Core Graph Theory Concepts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BFF8C7-7C45-2F8A-51D0-8FE4D485CC15}"/>
              </a:ext>
            </a:extLst>
          </p:cNvPr>
          <p:cNvSpPr txBox="1"/>
          <p:nvPr/>
        </p:nvSpPr>
        <p:spPr>
          <a:xfrm>
            <a:off x="438912" y="1097280"/>
            <a:ext cx="1078992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695547"/>
                </a:solidFill>
                <a:latin typeface="Aptos" panose="020B0004020202020204" pitchFamily="34" charset="0"/>
              </a:rPr>
              <a:t>Foundation used by the analyzer</a:t>
            </a:r>
            <a:endParaRPr lang="en-IN" sz="1100">
              <a:solidFill>
                <a:srgbClr val="695547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E37039-B806-C5B6-9D22-71F025C19A6E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0E8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8BE122-21A4-C6AA-4FE1-67411575E034}"/>
              </a:ext>
            </a:extLst>
          </p:cNvPr>
          <p:cNvSpPr txBox="1"/>
          <p:nvPr/>
        </p:nvSpPr>
        <p:spPr>
          <a:xfrm>
            <a:off x="384048" y="6574536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>
                <a:solidFill>
                  <a:srgbClr val="554133"/>
                </a:solidFill>
                <a:latin typeface="Aptos" panose="020B0004020202020204" pitchFamily="34" charset="0"/>
              </a:rPr>
              <a:t>Articulation Point Analysis | DAA PBL | Code Crew Nexus</a:t>
            </a:r>
            <a:endParaRPr lang="en-IN" sz="900">
              <a:solidFill>
                <a:srgbClr val="554133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A41B5E-B526-F5A3-804C-B3B494F2F9E5}"/>
              </a:ext>
            </a:extLst>
          </p:cNvPr>
          <p:cNvSpPr/>
          <p:nvPr/>
        </p:nvSpPr>
        <p:spPr>
          <a:xfrm>
            <a:off x="502920" y="1508760"/>
            <a:ext cx="5257800" cy="4526280"/>
          </a:xfrm>
          <a:prstGeom prst="rect">
            <a:avLst/>
          </a:prstGeom>
          <a:solidFill>
            <a:srgbClr val="FFFFFF"/>
          </a:solidFill>
          <a:ln w="14605"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0A745-713E-D3B2-B284-2CD65722CBA8}"/>
              </a:ext>
            </a:extLst>
          </p:cNvPr>
          <p:cNvSpPr txBox="1"/>
          <p:nvPr/>
        </p:nvSpPr>
        <p:spPr>
          <a:xfrm>
            <a:off x="731520" y="1719072"/>
            <a:ext cx="475488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2A170F"/>
                </a:solidFill>
                <a:latin typeface="Aptos Display" panose="020B0004020202020204" pitchFamily="34" charset="0"/>
              </a:rPr>
              <a:t>Fragility Concepts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450C39-85CA-4119-D02C-AF2F6405204B}"/>
              </a:ext>
            </a:extLst>
          </p:cNvPr>
          <p:cNvSpPr txBox="1"/>
          <p:nvPr/>
        </p:nvSpPr>
        <p:spPr>
          <a:xfrm>
            <a:off x="704088" y="2103120"/>
            <a:ext cx="4709160" cy="22672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Connected component: a maximal set of vertices with mutual reachability.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Articulation point: a vertex whose removal increases the number of connected components.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Bridge-like block: a tiny biconnected component formed by a single edge, often a narrow connector.</a:t>
            </a:r>
            <a:endParaRPr lang="en-IN" sz="1600">
              <a:solidFill>
                <a:srgbClr val="3B291E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5C62B2-1342-B939-3B28-F13C5F23A31B}"/>
              </a:ext>
            </a:extLst>
          </p:cNvPr>
          <p:cNvSpPr/>
          <p:nvPr/>
        </p:nvSpPr>
        <p:spPr>
          <a:xfrm>
            <a:off x="6080760" y="1508760"/>
            <a:ext cx="5257800" cy="4526280"/>
          </a:xfrm>
          <a:prstGeom prst="rect">
            <a:avLst/>
          </a:prstGeom>
          <a:solidFill>
            <a:srgbClr val="FCFAF8"/>
          </a:solidFill>
          <a:ln w="14605"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5FB48A-BF6A-C509-649A-8AB4D308E326}"/>
              </a:ext>
            </a:extLst>
          </p:cNvPr>
          <p:cNvSpPr txBox="1"/>
          <p:nvPr/>
        </p:nvSpPr>
        <p:spPr>
          <a:xfrm>
            <a:off x="6309360" y="1719072"/>
            <a:ext cx="475488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2A170F"/>
                </a:solidFill>
                <a:latin typeface="Aptos Display" panose="020B0004020202020204" pitchFamily="34" charset="0"/>
              </a:rPr>
              <a:t>Robustness Concepts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1BEEE7-20B5-A25A-10F5-4C1C0B409F7E}"/>
              </a:ext>
            </a:extLst>
          </p:cNvPr>
          <p:cNvSpPr txBox="1"/>
          <p:nvPr/>
        </p:nvSpPr>
        <p:spPr>
          <a:xfrm>
            <a:off x="6281928" y="2103120"/>
            <a:ext cx="4709160" cy="22672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Biconnected component: a maximal subgraph that stays connected after removal of any one internal vertex.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A graph is biconnected when it is connected and has no articulation point.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Large BCCs reveal stable regions; articulation points typically sit at boundaries between them.</a:t>
            </a:r>
            <a:endParaRPr lang="en-IN" sz="1600">
              <a:solidFill>
                <a:srgbClr val="3B291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497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2ED7A7-C99F-722B-2EFC-7039C830AF3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3EE85D-ECE9-01B5-0DA4-2FF511EDFFBB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17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C50E56-86FD-F119-BE83-5C29FFC1C58E}"/>
              </a:ext>
            </a:extLst>
          </p:cNvPr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6E76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3282E-CE05-149D-A8C0-FFB567C2317E}"/>
              </a:ext>
            </a:extLst>
          </p:cNvPr>
          <p:cNvSpPr txBox="1"/>
          <p:nvPr/>
        </p:nvSpPr>
        <p:spPr>
          <a:xfrm>
            <a:off x="411480" y="155448"/>
            <a:ext cx="804672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Tarjan-Style Algorithm Intuition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31FEAB-0E36-6687-9972-12929E9B225A}"/>
              </a:ext>
            </a:extLst>
          </p:cNvPr>
          <p:cNvSpPr txBox="1"/>
          <p:nvPr/>
        </p:nvSpPr>
        <p:spPr>
          <a:xfrm>
            <a:off x="438912" y="1097280"/>
            <a:ext cx="1078992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695547"/>
                </a:solidFill>
                <a:latin typeface="Aptos" panose="020B0004020202020204" pitchFamily="34" charset="0"/>
              </a:rPr>
              <a:t>Why one DFS is enough</a:t>
            </a:r>
            <a:endParaRPr lang="en-IN" sz="1100">
              <a:solidFill>
                <a:srgbClr val="695547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989FB7-3569-E957-E86B-7BD071C898B6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0E8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00F3AC-DD4D-4830-162F-D9880D57D2FA}"/>
              </a:ext>
            </a:extLst>
          </p:cNvPr>
          <p:cNvSpPr txBox="1"/>
          <p:nvPr/>
        </p:nvSpPr>
        <p:spPr>
          <a:xfrm>
            <a:off x="384048" y="6574536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>
                <a:solidFill>
                  <a:srgbClr val="554133"/>
                </a:solidFill>
                <a:latin typeface="Aptos" panose="020B0004020202020204" pitchFamily="34" charset="0"/>
              </a:rPr>
              <a:t>Articulation Point Analysis | DAA PBL | Code Crew Nexus</a:t>
            </a:r>
            <a:endParaRPr lang="en-IN" sz="900">
              <a:solidFill>
                <a:srgbClr val="554133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2EB455-6409-B217-20AD-3CCC821E6B4C}"/>
              </a:ext>
            </a:extLst>
          </p:cNvPr>
          <p:cNvSpPr/>
          <p:nvPr/>
        </p:nvSpPr>
        <p:spPr>
          <a:xfrm>
            <a:off x="502920" y="1417320"/>
            <a:ext cx="11064240" cy="4754880"/>
          </a:xfrm>
          <a:prstGeom prst="rect">
            <a:avLst/>
          </a:prstGeom>
          <a:solidFill>
            <a:srgbClr val="FFFFFF"/>
          </a:solidFill>
          <a:ln w="15875"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257AD3-2865-68F5-61A8-13EC4ADD99DE}"/>
              </a:ext>
            </a:extLst>
          </p:cNvPr>
          <p:cNvSpPr txBox="1"/>
          <p:nvPr/>
        </p:nvSpPr>
        <p:spPr>
          <a:xfrm>
            <a:off x="822960" y="1691640"/>
            <a:ext cx="10241280" cy="24468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3B291E"/>
                </a:solidFill>
                <a:latin typeface="Aptos" panose="020B0004020202020204" pitchFamily="34" charset="0"/>
              </a:rPr>
              <a:t>Each vertex gets a discovery time disc[u] and a low-link value low[u].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3B291E"/>
                </a:solidFill>
                <a:latin typeface="Aptos" panose="020B0004020202020204" pitchFamily="34" charset="0"/>
              </a:rPr>
              <a:t>low[u] captures the earliest discovery time reachable from u using tree edges plus at most one back edge.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3B291E"/>
                </a:solidFill>
                <a:latin typeface="Aptos" panose="020B0004020202020204" pitchFamily="34" charset="0"/>
              </a:rPr>
              <a:t>If low[child] &gt;= disc[parent], the child subtree cannot bypass the parent to reach an ancestor.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3B291E"/>
                </a:solidFill>
                <a:latin typeface="Aptos" panose="020B0004020202020204" pitchFamily="34" charset="0"/>
              </a:rPr>
              <a:t>That same condition both signals articulation impact and tells us when to pop one biconnected component from the edge stack.</a:t>
            </a:r>
            <a:endParaRPr lang="en-IN" sz="1900">
              <a:solidFill>
                <a:srgbClr val="3B291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216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D1D46E-D1EE-519A-01D9-378E0A7153A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9737BF-8E42-A418-1598-78139A674AE5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17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E4C0E9-2018-414B-8BED-42216D79B30C}"/>
              </a:ext>
            </a:extLst>
          </p:cNvPr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6E76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E9B2A3-B353-6E5B-8BA6-C2DF87131B1D}"/>
              </a:ext>
            </a:extLst>
          </p:cNvPr>
          <p:cNvSpPr txBox="1"/>
          <p:nvPr/>
        </p:nvSpPr>
        <p:spPr>
          <a:xfrm>
            <a:off x="411480" y="155448"/>
            <a:ext cx="804672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Architecture And Data 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015DC1-F0EF-3235-92D5-97D59D4657A4}"/>
              </a:ext>
            </a:extLst>
          </p:cNvPr>
          <p:cNvSpPr txBox="1"/>
          <p:nvPr/>
        </p:nvSpPr>
        <p:spPr>
          <a:xfrm>
            <a:off x="438912" y="1097280"/>
            <a:ext cx="1078992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695547"/>
                </a:solidFill>
                <a:latin typeface="Aptos" panose="020B0004020202020204" pitchFamily="34" charset="0"/>
              </a:rPr>
              <a:t>How the CLI, analyzer, and visualizer fit together</a:t>
            </a:r>
            <a:endParaRPr lang="en-IN" sz="1100">
              <a:solidFill>
                <a:srgbClr val="695547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2FE723-9369-AC9A-29E0-EDFEBD933F69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0E8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D082FB-9039-9FCD-2ED9-7229EDB1B4E2}"/>
              </a:ext>
            </a:extLst>
          </p:cNvPr>
          <p:cNvSpPr txBox="1"/>
          <p:nvPr/>
        </p:nvSpPr>
        <p:spPr>
          <a:xfrm>
            <a:off x="384048" y="6574536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>
                <a:solidFill>
                  <a:srgbClr val="554133"/>
                </a:solidFill>
                <a:latin typeface="Aptos" panose="020B0004020202020204" pitchFamily="34" charset="0"/>
              </a:rPr>
              <a:t>Articulation Point Analysis | DAA PBL | Code Crew Nexus</a:t>
            </a:r>
            <a:endParaRPr lang="en-IN" sz="900">
              <a:solidFill>
                <a:srgbClr val="554133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ABBA47-FE88-3974-A322-E59F4EF839DC}"/>
              </a:ext>
            </a:extLst>
          </p:cNvPr>
          <p:cNvSpPr/>
          <p:nvPr/>
        </p:nvSpPr>
        <p:spPr>
          <a:xfrm>
            <a:off x="822960" y="1828800"/>
            <a:ext cx="1920240" cy="960120"/>
          </a:xfrm>
          <a:prstGeom prst="roundRect">
            <a:avLst/>
          </a:prstGeom>
          <a:solidFill>
            <a:srgbClr val="FEEADB"/>
          </a:solidFill>
          <a:ln w="15240">
            <a:solidFill>
              <a:srgbClr val="B8A3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rgbClr val="2A170F"/>
                </a:solidFill>
                <a:latin typeface="Aptos Display" panose="020B0004020202020204" pitchFamily="34" charset="0"/>
              </a:rPr>
              <a:t>CSV / Generator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EE38AA-749F-6839-7FD9-990C6B1C3474}"/>
              </a:ext>
            </a:extLst>
          </p:cNvPr>
          <p:cNvSpPr/>
          <p:nvPr/>
        </p:nvSpPr>
        <p:spPr>
          <a:xfrm>
            <a:off x="3154680" y="1828800"/>
            <a:ext cx="1965960" cy="960120"/>
          </a:xfrm>
          <a:prstGeom prst="roundRect">
            <a:avLst/>
          </a:prstGeom>
          <a:solidFill>
            <a:srgbClr val="E7FCDC"/>
          </a:solidFill>
          <a:ln w="15240">
            <a:solidFill>
              <a:srgbClr val="B8A3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rgbClr val="2A170F"/>
                </a:solidFill>
                <a:latin typeface="Aptos Display" panose="020B0004020202020204" pitchFamily="34" charset="0"/>
              </a:rPr>
              <a:t>Graph.java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2FBD99D-7619-68ED-5091-7DB8DC22347C}"/>
              </a:ext>
            </a:extLst>
          </p:cNvPr>
          <p:cNvSpPr/>
          <p:nvPr/>
        </p:nvSpPr>
        <p:spPr>
          <a:xfrm>
            <a:off x="5486400" y="1828800"/>
            <a:ext cx="2423160" cy="960120"/>
          </a:xfrm>
          <a:prstGeom prst="roundRect">
            <a:avLst/>
          </a:prstGeom>
          <a:solidFill>
            <a:srgbClr val="C7F3FE"/>
          </a:solidFill>
          <a:ln w="15240">
            <a:solidFill>
              <a:srgbClr val="B8A3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rgbClr val="2A170F"/>
                </a:solidFill>
                <a:latin typeface="Aptos Display" panose="020B0004020202020204" pitchFamily="34" charset="0"/>
              </a:rPr>
              <a:t>ReliabilityAnalyzer.java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77310B-4136-36A1-EC2E-9ECDE1484AA5}"/>
              </a:ext>
            </a:extLst>
          </p:cNvPr>
          <p:cNvSpPr/>
          <p:nvPr/>
        </p:nvSpPr>
        <p:spPr>
          <a:xfrm>
            <a:off x="8321040" y="1234440"/>
            <a:ext cx="2011680" cy="914400"/>
          </a:xfrm>
          <a:prstGeom prst="roundRect">
            <a:avLst/>
          </a:prstGeom>
          <a:solidFill>
            <a:srgbClr val="F3E7FC"/>
          </a:solidFill>
          <a:ln w="15240">
            <a:solidFill>
              <a:srgbClr val="B8A3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rgbClr val="2A170F"/>
                </a:solidFill>
                <a:latin typeface="Aptos Display" panose="020B0004020202020204" pitchFamily="34" charset="0"/>
              </a:rPr>
              <a:t>Terminal Summary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967945E-93D9-7AA7-8675-BAD51F66A771}"/>
              </a:ext>
            </a:extLst>
          </p:cNvPr>
          <p:cNvSpPr/>
          <p:nvPr/>
        </p:nvSpPr>
        <p:spPr>
          <a:xfrm>
            <a:off x="8321040" y="2514600"/>
            <a:ext cx="2011680" cy="914400"/>
          </a:xfrm>
          <a:prstGeom prst="roundRect">
            <a:avLst/>
          </a:prstGeom>
          <a:solidFill>
            <a:srgbClr val="FEE9ED"/>
          </a:solidFill>
          <a:ln w="15240">
            <a:solidFill>
              <a:srgbClr val="B8A3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rgbClr val="2A170F"/>
                </a:solidFill>
                <a:latin typeface="Aptos Display" panose="020B0004020202020204" pitchFamily="34" charset="0"/>
              </a:rPr>
              <a:t>HTML Visualization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5791A0F-DF36-7AEC-4566-F8AC25C44FC7}"/>
              </a:ext>
            </a:extLst>
          </p:cNvPr>
          <p:cNvSpPr/>
          <p:nvPr/>
        </p:nvSpPr>
        <p:spPr>
          <a:xfrm>
            <a:off x="2761488" y="2176272"/>
            <a:ext cx="347472" cy="164592"/>
          </a:xfrm>
          <a:prstGeom prst="rightArrow">
            <a:avLst/>
          </a:prstGeom>
          <a:solidFill>
            <a:srgbClr val="6E76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CD28759-C052-418E-23F5-C7A52931BFA8}"/>
              </a:ext>
            </a:extLst>
          </p:cNvPr>
          <p:cNvSpPr/>
          <p:nvPr/>
        </p:nvSpPr>
        <p:spPr>
          <a:xfrm>
            <a:off x="5102352" y="2176272"/>
            <a:ext cx="347472" cy="164592"/>
          </a:xfrm>
          <a:prstGeom prst="rightArrow">
            <a:avLst/>
          </a:prstGeom>
          <a:solidFill>
            <a:srgbClr val="6E76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C7D0148-83D7-DBAD-2B99-B40FDEA74CB7}"/>
              </a:ext>
            </a:extLst>
          </p:cNvPr>
          <p:cNvSpPr/>
          <p:nvPr/>
        </p:nvSpPr>
        <p:spPr>
          <a:xfrm>
            <a:off x="7973568" y="1664208"/>
            <a:ext cx="274320" cy="164592"/>
          </a:xfrm>
          <a:prstGeom prst="rightArrow">
            <a:avLst/>
          </a:prstGeom>
          <a:solidFill>
            <a:srgbClr val="6E76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D160BE9-B029-32D0-46E7-C49C7BB6BACD}"/>
              </a:ext>
            </a:extLst>
          </p:cNvPr>
          <p:cNvSpPr/>
          <p:nvPr/>
        </p:nvSpPr>
        <p:spPr>
          <a:xfrm>
            <a:off x="7973568" y="2926080"/>
            <a:ext cx="274320" cy="164592"/>
          </a:xfrm>
          <a:prstGeom prst="rightArrow">
            <a:avLst/>
          </a:prstGeom>
          <a:solidFill>
            <a:srgbClr val="6E76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196C4D-42A3-0B12-54E7-019436258A2E}"/>
              </a:ext>
            </a:extLst>
          </p:cNvPr>
          <p:cNvSpPr txBox="1"/>
          <p:nvPr/>
        </p:nvSpPr>
        <p:spPr>
          <a:xfrm>
            <a:off x="914400" y="3794760"/>
            <a:ext cx="10287000" cy="8771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554133"/>
                </a:solidFill>
                <a:latin typeface="Aptos" panose="020B0004020202020204" pitchFamily="34" charset="0"/>
              </a:rPr>
              <a:t>The project uses an efficient integer-indexed graph core, then performs one iterative Tarjan-style traversal to produce articulation points, biconnected components, graph classification, and impact metrics. Those results are consumed by both the terminal report and the browser visualization.</a:t>
            </a:r>
            <a:endParaRPr lang="en-IN" sz="1700">
              <a:solidFill>
                <a:srgbClr val="55413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61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3A6326-55FC-F3EF-5459-CCE7963B58E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4EE97A-E637-8988-201D-B20E14A81191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17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B63D6E-FDFB-2A1E-7CEC-83E301D09F00}"/>
              </a:ext>
            </a:extLst>
          </p:cNvPr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6E76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4472A-4A9C-B5C1-E231-280F35AB41DC}"/>
              </a:ext>
            </a:extLst>
          </p:cNvPr>
          <p:cNvSpPr txBox="1"/>
          <p:nvPr/>
        </p:nvSpPr>
        <p:spPr>
          <a:xfrm>
            <a:off x="411480" y="155448"/>
            <a:ext cx="804672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Codebase Responsibilities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B01CC1-EFF5-D5EA-1BD0-E8F3515E6C6D}"/>
              </a:ext>
            </a:extLst>
          </p:cNvPr>
          <p:cNvSpPr txBox="1"/>
          <p:nvPr/>
        </p:nvSpPr>
        <p:spPr>
          <a:xfrm>
            <a:off x="438912" y="1097280"/>
            <a:ext cx="1078992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695547"/>
                </a:solidFill>
                <a:latin typeface="Aptos" panose="020B0004020202020204" pitchFamily="34" charset="0"/>
              </a:rPr>
              <a:t>How each source file contributes</a:t>
            </a:r>
            <a:endParaRPr lang="en-IN" sz="1100">
              <a:solidFill>
                <a:srgbClr val="695547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78E3CD-1369-87DA-B2F3-50FA93425846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0E8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D5A267-7246-F215-E9BF-3F1881C49E0B}"/>
              </a:ext>
            </a:extLst>
          </p:cNvPr>
          <p:cNvSpPr txBox="1"/>
          <p:nvPr/>
        </p:nvSpPr>
        <p:spPr>
          <a:xfrm>
            <a:off x="384048" y="6574536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>
                <a:solidFill>
                  <a:srgbClr val="554133"/>
                </a:solidFill>
                <a:latin typeface="Aptos" panose="020B0004020202020204" pitchFamily="34" charset="0"/>
              </a:rPr>
              <a:t>Articulation Point Analysis | DAA PBL | Code Crew Nexus</a:t>
            </a:r>
            <a:endParaRPr lang="en-IN" sz="900">
              <a:solidFill>
                <a:srgbClr val="554133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CA25D2-B814-9EFA-B110-70439C3BCCD7}"/>
              </a:ext>
            </a:extLst>
          </p:cNvPr>
          <p:cNvSpPr/>
          <p:nvPr/>
        </p:nvSpPr>
        <p:spPr>
          <a:xfrm>
            <a:off x="502920" y="1508760"/>
            <a:ext cx="5257800" cy="4526280"/>
          </a:xfrm>
          <a:prstGeom prst="rect">
            <a:avLst/>
          </a:prstGeom>
          <a:solidFill>
            <a:srgbClr val="FFFFFF"/>
          </a:solidFill>
          <a:ln w="14605"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97902A-F97D-9B8E-E341-EF1652819A8B}"/>
              </a:ext>
            </a:extLst>
          </p:cNvPr>
          <p:cNvSpPr txBox="1"/>
          <p:nvPr/>
        </p:nvSpPr>
        <p:spPr>
          <a:xfrm>
            <a:off x="731520" y="1719072"/>
            <a:ext cx="475488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2A170F"/>
                </a:solidFill>
                <a:latin typeface="Aptos Display" panose="020B0004020202020204" pitchFamily="34" charset="0"/>
              </a:rPr>
              <a:t>Core Java Files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2981DD-4A3D-903D-4065-659ABA24F94D}"/>
              </a:ext>
            </a:extLst>
          </p:cNvPr>
          <p:cNvSpPr txBox="1"/>
          <p:nvPr/>
        </p:nvSpPr>
        <p:spPr>
          <a:xfrm>
            <a:off x="704088" y="2103120"/>
            <a:ext cx="4709160" cy="22672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IN" sz="1600">
                <a:solidFill>
                  <a:srgbClr val="3B291E"/>
                </a:solidFill>
                <a:latin typeface="Aptos" panose="020B0004020202020204" pitchFamily="34" charset="0"/>
              </a:rPr>
              <a:t>Graph.java stores adjacency lists and maps string IDs to integer indices for performance.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IN" sz="1600">
                <a:solidFill>
                  <a:srgbClr val="3B291E"/>
                </a:solidFill>
                <a:latin typeface="Aptos" panose="020B0004020202020204" pitchFamily="34" charset="0"/>
              </a:rPr>
              <a:t>ReliabilityAnalyzer.java performs iterative DFS, impact tracking, BCC extraction, and classification.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IN" sz="1600">
                <a:solidFill>
                  <a:srgbClr val="3B291E"/>
                </a:solidFill>
                <a:latin typeface="Aptos" panose="020B0004020202020204" pitchFamily="34" charset="0"/>
              </a:rPr>
              <a:t>App.java orchestrates loading, generation, timing, output formatting, and visualization export.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F95224-474F-ED20-8104-F0B8900E7AB9}"/>
              </a:ext>
            </a:extLst>
          </p:cNvPr>
          <p:cNvSpPr/>
          <p:nvPr/>
        </p:nvSpPr>
        <p:spPr>
          <a:xfrm>
            <a:off x="6080760" y="1508760"/>
            <a:ext cx="5257800" cy="4526280"/>
          </a:xfrm>
          <a:prstGeom prst="rect">
            <a:avLst/>
          </a:prstGeom>
          <a:solidFill>
            <a:srgbClr val="FCFAF8"/>
          </a:solidFill>
          <a:ln w="14605"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97C819-5A79-475D-5A65-6DBA06D532B8}"/>
              </a:ext>
            </a:extLst>
          </p:cNvPr>
          <p:cNvSpPr txBox="1"/>
          <p:nvPr/>
        </p:nvSpPr>
        <p:spPr>
          <a:xfrm>
            <a:off x="6309360" y="1719072"/>
            <a:ext cx="475488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2A170F"/>
                </a:solidFill>
                <a:latin typeface="Aptos Display" panose="020B0004020202020204" pitchFamily="34" charset="0"/>
              </a:rPr>
              <a:t>Supporting Files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4DE3A6-595A-0F07-9BFA-E9BE0CF06F09}"/>
              </a:ext>
            </a:extLst>
          </p:cNvPr>
          <p:cNvSpPr txBox="1"/>
          <p:nvPr/>
        </p:nvSpPr>
        <p:spPr>
          <a:xfrm>
            <a:off x="6281928" y="2103120"/>
            <a:ext cx="4709160" cy="25135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IN" sz="1600">
                <a:solidFill>
                  <a:srgbClr val="3B291E"/>
                </a:solidFill>
                <a:latin typeface="Aptos" panose="020B0004020202020204" pitchFamily="34" charset="0"/>
              </a:rPr>
              <a:t>NetworkSimulator.java generates scale-free graphs with guaranteed articulation-sensitive tail behavior.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IN" sz="1600">
                <a:solidFill>
                  <a:srgbClr val="3B291E"/>
                </a:solidFill>
                <a:latin typeface="Aptos" panose="020B0004020202020204" pitchFamily="34" charset="0"/>
              </a:rPr>
              <a:t>GraphVisualizer.java exports HTML with articulation-point highlighting and BCC color coding.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IN" sz="1600">
                <a:solidFill>
                  <a:srgbClr val="3B291E"/>
                </a:solidFill>
                <a:latin typeface="Aptos" panose="020B0004020202020204" pitchFamily="34" charset="0"/>
              </a:rPr>
              <a:t>README.md and docs/ now document the project, report structure, and Office output pipeline.</a:t>
            </a:r>
          </a:p>
        </p:txBody>
      </p:sp>
    </p:spTree>
    <p:extLst>
      <p:ext uri="{BB962C8B-B14F-4D97-AF65-F5344CB8AC3E}">
        <p14:creationId xmlns:p14="http://schemas.microsoft.com/office/powerpoint/2010/main" val="829683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65871D-53DC-7E49-83F9-D5B3193A3BA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F3502D-A1AC-8377-DAEF-3A72ACFFF900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17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1945C0-5C78-BB0B-1F29-01F0AA1E582E}"/>
              </a:ext>
            </a:extLst>
          </p:cNvPr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6E76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075B3-807D-60D3-1B03-2BE93944D7E8}"/>
              </a:ext>
            </a:extLst>
          </p:cNvPr>
          <p:cNvSpPr txBox="1"/>
          <p:nvPr/>
        </p:nvSpPr>
        <p:spPr>
          <a:xfrm>
            <a:off x="411480" y="155448"/>
            <a:ext cx="804672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Implementation Highlights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D7EDA-C4AB-3851-95AE-F01579EB2C8B}"/>
              </a:ext>
            </a:extLst>
          </p:cNvPr>
          <p:cNvSpPr txBox="1"/>
          <p:nvPr/>
        </p:nvSpPr>
        <p:spPr>
          <a:xfrm>
            <a:off x="438912" y="1097280"/>
            <a:ext cx="1078992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695547"/>
                </a:solidFill>
                <a:latin typeface="Aptos" panose="020B0004020202020204" pitchFamily="34" charset="0"/>
              </a:rPr>
              <a:t>Creative upgrades added to the project</a:t>
            </a:r>
            <a:endParaRPr lang="en-IN" sz="1100">
              <a:solidFill>
                <a:srgbClr val="695547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990C01-B820-7466-3453-1CFE3B9EA36A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0E8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D6AFC-A80D-3B96-A46E-B456358C22A3}"/>
              </a:ext>
            </a:extLst>
          </p:cNvPr>
          <p:cNvSpPr txBox="1"/>
          <p:nvPr/>
        </p:nvSpPr>
        <p:spPr>
          <a:xfrm>
            <a:off x="384048" y="6574536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>
                <a:solidFill>
                  <a:srgbClr val="554133"/>
                </a:solidFill>
                <a:latin typeface="Aptos" panose="020B0004020202020204" pitchFamily="34" charset="0"/>
              </a:rPr>
              <a:t>Articulation Point Analysis | DAA PBL | Code Crew Nexus</a:t>
            </a:r>
            <a:endParaRPr lang="en-IN" sz="900">
              <a:solidFill>
                <a:srgbClr val="554133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0E7FC5-C66B-F3A2-9190-3593B5FBE47C}"/>
              </a:ext>
            </a:extLst>
          </p:cNvPr>
          <p:cNvSpPr/>
          <p:nvPr/>
        </p:nvSpPr>
        <p:spPr>
          <a:xfrm>
            <a:off x="502920" y="1417320"/>
            <a:ext cx="11064240" cy="4754880"/>
          </a:xfrm>
          <a:prstGeom prst="rect">
            <a:avLst/>
          </a:prstGeom>
          <a:solidFill>
            <a:srgbClr val="FFFFFF"/>
          </a:solidFill>
          <a:ln w="15875"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36FE1-5329-084F-9FAD-E48BBC8B5E60}"/>
              </a:ext>
            </a:extLst>
          </p:cNvPr>
          <p:cNvSpPr txBox="1"/>
          <p:nvPr/>
        </p:nvSpPr>
        <p:spPr>
          <a:xfrm>
            <a:off x="822960" y="1691640"/>
            <a:ext cx="10241280" cy="273921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3B291E"/>
                </a:solidFill>
                <a:latin typeface="Aptos" panose="020B0004020202020204" pitchFamily="34" charset="0"/>
              </a:rPr>
              <a:t>Biconnected components are extracted without a second traversal by maintaining an edge stack during DFS.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3B291E"/>
                </a:solidFill>
                <a:latin typeface="Aptos" panose="020B0004020202020204" pitchFamily="34" charset="0"/>
              </a:rPr>
              <a:t>The CLI now reports graph classification, top articulation points, top BCCs, bridge-like counts, and a brief summary line.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3B291E"/>
                </a:solidFill>
                <a:latin typeface="Aptos" panose="020B0004020202020204" pitchFamily="34" charset="0"/>
              </a:rPr>
              <a:t>The HTML visualizer colors edges by block membership and shows BCC-aware node tooltips for easier exploration.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3B291E"/>
                </a:solidFill>
                <a:latin typeface="Aptos" panose="020B0004020202020204" pitchFamily="34" charset="0"/>
              </a:rPr>
              <a:t>Repository hygiene was improved by separating source files from generated bytecode and adding structured docs.</a:t>
            </a:r>
            <a:endParaRPr lang="en-IN" sz="1900">
              <a:solidFill>
                <a:srgbClr val="3B291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57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245061-AF5D-05C3-A4CB-3320FF921CD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3A6548-E8CF-D9DD-228B-AE31780987B4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17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FCFC11-D74B-2D0E-AB76-7EB9FDD3D81E}"/>
              </a:ext>
            </a:extLst>
          </p:cNvPr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6E76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6E717-0A06-4187-F794-CA1D14E39875}"/>
              </a:ext>
            </a:extLst>
          </p:cNvPr>
          <p:cNvSpPr txBox="1"/>
          <p:nvPr/>
        </p:nvSpPr>
        <p:spPr>
          <a:xfrm>
            <a:off x="411480" y="155448"/>
            <a:ext cx="804672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Representative CLI 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086F89-FA0A-C914-E2C4-06808B9B6C74}"/>
              </a:ext>
            </a:extLst>
          </p:cNvPr>
          <p:cNvSpPr txBox="1"/>
          <p:nvPr/>
        </p:nvSpPr>
        <p:spPr>
          <a:xfrm>
            <a:off x="438912" y="1097280"/>
            <a:ext cx="1078992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695547"/>
                </a:solidFill>
                <a:latin typeface="Aptos" panose="020B0004020202020204" pitchFamily="34" charset="0"/>
              </a:rPr>
              <a:t>Sample graph execution snapshot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678A7-C191-E346-FACD-A75B758C5D3B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0E8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835492-3BBB-48F7-3098-8A2F844A25D1}"/>
              </a:ext>
            </a:extLst>
          </p:cNvPr>
          <p:cNvSpPr txBox="1"/>
          <p:nvPr/>
        </p:nvSpPr>
        <p:spPr>
          <a:xfrm>
            <a:off x="384048" y="6574536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>
                <a:solidFill>
                  <a:srgbClr val="554133"/>
                </a:solidFill>
                <a:latin typeface="Aptos" panose="020B0004020202020204" pitchFamily="34" charset="0"/>
              </a:rPr>
              <a:t>Articulation Point Analysis | DAA PBL | Code Crew Nexus</a:t>
            </a:r>
            <a:endParaRPr lang="en-IN" sz="900">
              <a:solidFill>
                <a:srgbClr val="554133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6C8F3D-2510-5259-E1F9-7818E46830DF}"/>
              </a:ext>
            </a:extLst>
          </p:cNvPr>
          <p:cNvSpPr/>
          <p:nvPr/>
        </p:nvSpPr>
        <p:spPr>
          <a:xfrm>
            <a:off x="640080" y="1508760"/>
            <a:ext cx="10972800" cy="4892040"/>
          </a:xfrm>
          <a:prstGeom prst="rect">
            <a:avLst/>
          </a:prstGeom>
          <a:solidFill>
            <a:srgbClr val="2A170F"/>
          </a:solidFill>
          <a:ln w="15240">
            <a:solidFill>
              <a:srgbClr val="D84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12E3CA-CC84-8DDE-24F9-36A4691A79C4}"/>
              </a:ext>
            </a:extLst>
          </p:cNvPr>
          <p:cNvSpPr txBox="1"/>
          <p:nvPr/>
        </p:nvSpPr>
        <p:spPr>
          <a:xfrm>
            <a:off x="868680" y="1737360"/>
            <a:ext cx="10515600" cy="720197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Loading graph from CSV: sample_graph.csv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Graph loaded successfully. Nodes: 12, Edges: 13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Starting High-Performance Reliability Analysis...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Analysis Complete in 12.488 ms.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Memory allocated during analysis approx: 0.39 MB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Found 4 Articulation Points.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Found 7 Biconnected Components.</a:t>
            </a:r>
          </a:p>
          <a:p>
            <a:endParaRPr lang="en-IN" sz="1400">
              <a:solidFill>
                <a:srgbClr val="F0E8E2"/>
              </a:solidFill>
              <a:latin typeface="Consolas" panose="020B0609020204030204" pitchFamily="49" charset="0"/>
            </a:endParaRP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Graph Structure Overview: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Connected Components        : 2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Graph Classification        : Disconnected Graph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Bridge-Like Components      : 4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Largest Biconnected Block   : 3 nodes</a:t>
            </a:r>
          </a:p>
          <a:p>
            <a:endParaRPr lang="en-IN" sz="1400">
              <a:solidFill>
                <a:srgbClr val="F0E8E2"/>
              </a:solidFill>
              <a:latin typeface="Consolas" panose="020B0609020204030204" pitchFamily="49" charset="0"/>
            </a:endParaRP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Top 10 Most Critical Nodes (by Impact Factor):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Node ID              | Disconnected Components   | Largest Remaining Component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---------------------------------------------------------------------------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7                    | 3                         | 6                        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5                    | 2                         | 5                        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3                    | 2                         | 7                        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9                    | 2                         | 8                        </a:t>
            </a:r>
          </a:p>
          <a:p>
            <a:endParaRPr lang="en-IN" sz="1400">
              <a:solidFill>
                <a:srgbClr val="F0E8E2"/>
              </a:solidFill>
              <a:latin typeface="Consolas" panose="020B0609020204030204" pitchFamily="49" charset="0"/>
            </a:endParaRP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Top 5 Biconnected Components: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Component    | Vertices   | Edges      | Articulation Nodes   | Block Type     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--------------------------------------------------------------------------------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BCC-1        | 3          | 3          | 2                    | Robust Block   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BCC-2        | 3          | 3          | 2                    | Robust Block   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BCC-3        | 3          | 3          | 1                    | Robust Block   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BCC-4        | 2          | 1          | 1                    | Bridge Block   </a:t>
            </a: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BCC-5        | 2          | 1          | 1                    | Bridge Block   </a:t>
            </a:r>
          </a:p>
          <a:p>
            <a:endParaRPr lang="en-IN" sz="1400">
              <a:solidFill>
                <a:srgbClr val="F0E8E2"/>
              </a:solidFill>
              <a:latin typeface="Consolas" panose="020B0609020204030204" pitchFamily="49" charset="0"/>
            </a:endParaRPr>
          </a:p>
          <a:p>
            <a:r>
              <a:rPr lang="en-IN" sz="1400">
                <a:solidFill>
                  <a:srgbClr val="F0E8E2"/>
                </a:solidFill>
                <a:latin typeface="Consolas" panose="020B0609020204030204" pitchFamily="49" charset="0"/>
              </a:rPr>
              <a:t>Brief summary: Disconnected Graph with 2 connected component(s), 4 articulation point(s), and 7 biconnected component(s). Largest block spans 3 node(s).</a:t>
            </a:r>
          </a:p>
        </p:txBody>
      </p:sp>
    </p:spTree>
    <p:extLst>
      <p:ext uri="{BB962C8B-B14F-4D97-AF65-F5344CB8AC3E}">
        <p14:creationId xmlns:p14="http://schemas.microsoft.com/office/powerpoint/2010/main" val="2358728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5328D2-FB5B-CD09-81E3-4DE41611065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71D3F6-A91F-89DE-18B7-ECD1CA4B4420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17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002E20-FC6A-A23E-16C1-1A631D88E134}"/>
              </a:ext>
            </a:extLst>
          </p:cNvPr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6E76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DE294-A540-46B1-9A94-7889A040716C}"/>
              </a:ext>
            </a:extLst>
          </p:cNvPr>
          <p:cNvSpPr txBox="1"/>
          <p:nvPr/>
        </p:nvSpPr>
        <p:spPr>
          <a:xfrm>
            <a:off x="411480" y="155448"/>
            <a:ext cx="804672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Validation Snapshot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028226-DC86-862B-A8FD-0FC806FD6C4A}"/>
              </a:ext>
            </a:extLst>
          </p:cNvPr>
          <p:cNvSpPr txBox="1"/>
          <p:nvPr/>
        </p:nvSpPr>
        <p:spPr>
          <a:xfrm>
            <a:off x="438912" y="1097280"/>
            <a:ext cx="1078992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695547"/>
                </a:solidFill>
                <a:latin typeface="Aptos" panose="020B0004020202020204" pitchFamily="34" charset="0"/>
              </a:rPr>
              <a:t>Representative results collected from the current build</a:t>
            </a:r>
            <a:endParaRPr lang="en-IN" sz="1100">
              <a:solidFill>
                <a:srgbClr val="695547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A254CC-4001-7C80-C5F3-0009EBDC0471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0E8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22D3C-CFC3-1D57-4B4A-46191CF783DC}"/>
              </a:ext>
            </a:extLst>
          </p:cNvPr>
          <p:cNvSpPr txBox="1"/>
          <p:nvPr/>
        </p:nvSpPr>
        <p:spPr>
          <a:xfrm>
            <a:off x="384048" y="6574536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>
                <a:solidFill>
                  <a:srgbClr val="554133"/>
                </a:solidFill>
                <a:latin typeface="Aptos" panose="020B0004020202020204" pitchFamily="34" charset="0"/>
              </a:rPr>
              <a:t>Articulation Point Analysis | DAA PBL | Code Crew Nexus</a:t>
            </a:r>
            <a:endParaRPr lang="en-IN" sz="900">
              <a:solidFill>
                <a:srgbClr val="554133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442BA3-9D58-455C-104C-1F9032843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12779"/>
              </p:ext>
            </p:extLst>
          </p:nvPr>
        </p:nvGraphicFramePr>
        <p:xfrm>
          <a:off x="640080" y="1554480"/>
          <a:ext cx="10927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1180">
                  <a:extLst>
                    <a:ext uri="{9D8B030D-6E8A-4147-A177-3AD203B41FA5}">
                      <a16:colId xmlns:a16="http://schemas.microsoft.com/office/drawing/2014/main" val="1388045061"/>
                    </a:ext>
                  </a:extLst>
                </a:gridCol>
                <a:gridCol w="1821180">
                  <a:extLst>
                    <a:ext uri="{9D8B030D-6E8A-4147-A177-3AD203B41FA5}">
                      <a16:colId xmlns:a16="http://schemas.microsoft.com/office/drawing/2014/main" val="97319986"/>
                    </a:ext>
                  </a:extLst>
                </a:gridCol>
                <a:gridCol w="1821180">
                  <a:extLst>
                    <a:ext uri="{9D8B030D-6E8A-4147-A177-3AD203B41FA5}">
                      <a16:colId xmlns:a16="http://schemas.microsoft.com/office/drawing/2014/main" val="4167176827"/>
                    </a:ext>
                  </a:extLst>
                </a:gridCol>
                <a:gridCol w="1821180">
                  <a:extLst>
                    <a:ext uri="{9D8B030D-6E8A-4147-A177-3AD203B41FA5}">
                      <a16:colId xmlns:a16="http://schemas.microsoft.com/office/drawing/2014/main" val="3344356"/>
                    </a:ext>
                  </a:extLst>
                </a:gridCol>
                <a:gridCol w="1821180">
                  <a:extLst>
                    <a:ext uri="{9D8B030D-6E8A-4147-A177-3AD203B41FA5}">
                      <a16:colId xmlns:a16="http://schemas.microsoft.com/office/drawing/2014/main" val="94996051"/>
                    </a:ext>
                  </a:extLst>
                </a:gridCol>
                <a:gridCol w="1821180">
                  <a:extLst>
                    <a:ext uri="{9D8B030D-6E8A-4147-A177-3AD203B41FA5}">
                      <a16:colId xmlns:a16="http://schemas.microsoft.com/office/drawing/2014/main" val="2599762310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r>
                        <a:rPr lang="en-IN" sz="150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</a:rPr>
                        <a:t>Scenario</a:t>
                      </a:r>
                    </a:p>
                  </a:txBody>
                  <a:tcPr>
                    <a:solidFill>
                      <a:srgbClr val="2A17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</a:rPr>
                        <a:t>Nodes</a:t>
                      </a:r>
                    </a:p>
                  </a:txBody>
                  <a:tcPr>
                    <a:solidFill>
                      <a:srgbClr val="2A17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</a:rPr>
                        <a:t>Edges</a:t>
                      </a:r>
                    </a:p>
                  </a:txBody>
                  <a:tcPr>
                    <a:solidFill>
                      <a:srgbClr val="2A17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</a:rPr>
                        <a:t>Articulation Points</a:t>
                      </a:r>
                    </a:p>
                  </a:txBody>
                  <a:tcPr>
                    <a:solidFill>
                      <a:srgbClr val="2A17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</a:rPr>
                        <a:t>BCCs</a:t>
                      </a:r>
                    </a:p>
                  </a:txBody>
                  <a:tcPr>
                    <a:solidFill>
                      <a:srgbClr val="2A17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solidFill>
                            <a:srgbClr val="FFFFFF"/>
                          </a:solidFill>
                          <a:latin typeface="Aptos Display" panose="020B0004020202020204" pitchFamily="34" charset="0"/>
                        </a:rPr>
                        <a:t>Classification</a:t>
                      </a:r>
                    </a:p>
                  </a:txBody>
                  <a:tcPr>
                    <a:solidFill>
                      <a:srgbClr val="2A17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3537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rgbClr val="3B291E"/>
                          </a:solidFill>
                          <a:latin typeface="Aptos" panose="020B0004020202020204" pitchFamily="34" charset="0"/>
                        </a:rPr>
                        <a:t>Sample CSV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rgbClr val="3B291E"/>
                          </a:solidFill>
                          <a:latin typeface="Aptos" panose="020B00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rgbClr val="3B291E"/>
                          </a:solidFill>
                          <a:latin typeface="Aptos" panose="020B0004020202020204" pitchFamily="34" charset="0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rgbClr val="3B291E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rgbClr val="3B291E"/>
                          </a:solidFill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rgbClr val="3B291E"/>
                          </a:solidFill>
                          <a:latin typeface="Aptos" panose="020B0004020202020204" pitchFamily="34" charset="0"/>
                        </a:rPr>
                        <a:t>Disconnected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754518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3B291E"/>
                          </a:solidFill>
                          <a:latin typeface="Aptos" panose="020B0004020202020204" pitchFamily="34" charset="0"/>
                        </a:rPr>
                        <a:t>Generated graph (V=20, m=2)</a:t>
                      </a:r>
                      <a:endParaRPr lang="en-IN" sz="1400">
                        <a:solidFill>
                          <a:srgbClr val="3B291E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rgbClr val="3B291E"/>
                          </a:solidFill>
                          <a:latin typeface="Aptos" panose="020B00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rgbClr val="3B291E"/>
                          </a:solidFill>
                          <a:latin typeface="Aptos" panose="020B0004020202020204" pitchFamily="34" charset="0"/>
                        </a:rPr>
                        <a:t>34</a:t>
                      </a:r>
                    </a:p>
                  </a:txBody>
                  <a:tcPr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rgbClr val="3B291E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rgbClr val="3B291E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rgbClr val="3B291E"/>
                          </a:solidFill>
                          <a:latin typeface="Aptos" panose="020B0004020202020204" pitchFamily="34" charset="0"/>
                        </a:rPr>
                        <a:t>Connected but not Biconnected</a:t>
                      </a:r>
                    </a:p>
                  </a:txBody>
                  <a:tcPr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465579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rgbClr val="3B291E"/>
                          </a:solidFill>
                          <a:latin typeface="Aptos" panose="020B0004020202020204" pitchFamily="34" charset="0"/>
                        </a:rPr>
                        <a:t>Cycle sanity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rgbClr val="3B291E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rgbClr val="3B291E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rgbClr val="3B291E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rgbClr val="3B291E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rgbClr val="3B291E"/>
                          </a:solidFill>
                          <a:latin typeface="Aptos" panose="020B0004020202020204" pitchFamily="34" charset="0"/>
                        </a:rPr>
                        <a:t>Biconnected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333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857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1C7B98-691D-D9BA-6303-0ACE992F65C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748DBF-99DA-AD31-FCB3-B68A20F7076F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17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EFA1C0-71BC-2C67-AF34-AD9CB432AD9A}"/>
              </a:ext>
            </a:extLst>
          </p:cNvPr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6E76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7B2B90-4B87-7BF3-075E-36951E154332}"/>
              </a:ext>
            </a:extLst>
          </p:cNvPr>
          <p:cNvSpPr txBox="1"/>
          <p:nvPr/>
        </p:nvSpPr>
        <p:spPr>
          <a:xfrm>
            <a:off x="411480" y="155448"/>
            <a:ext cx="804672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System Configuration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035D7-7ACB-475A-BAE1-AAEBF0609553}"/>
              </a:ext>
            </a:extLst>
          </p:cNvPr>
          <p:cNvSpPr txBox="1"/>
          <p:nvPr/>
        </p:nvSpPr>
        <p:spPr>
          <a:xfrm>
            <a:off x="438912" y="1097280"/>
            <a:ext cx="1078992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695547"/>
                </a:solidFill>
                <a:latin typeface="Aptos" panose="020B0004020202020204" pitchFamily="34" charset="0"/>
              </a:rPr>
              <a:t>Practical environment for this project</a:t>
            </a:r>
            <a:endParaRPr lang="en-IN" sz="1100">
              <a:solidFill>
                <a:srgbClr val="695547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BE60C5-1124-FEAD-EF57-950E8A7A77A3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0E8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BECA3F-4413-EF5B-2D32-3196C7E10A70}"/>
              </a:ext>
            </a:extLst>
          </p:cNvPr>
          <p:cNvSpPr txBox="1"/>
          <p:nvPr/>
        </p:nvSpPr>
        <p:spPr>
          <a:xfrm>
            <a:off x="384048" y="6574536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>
                <a:solidFill>
                  <a:srgbClr val="554133"/>
                </a:solidFill>
                <a:latin typeface="Aptos" panose="020B0004020202020204" pitchFamily="34" charset="0"/>
              </a:rPr>
              <a:t>Articulation Point Analysis | DAA PBL | Code Crew Nexus</a:t>
            </a:r>
            <a:endParaRPr lang="en-IN" sz="900">
              <a:solidFill>
                <a:srgbClr val="554133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F79997-9C55-EF04-DD8F-E626475613A3}"/>
              </a:ext>
            </a:extLst>
          </p:cNvPr>
          <p:cNvSpPr/>
          <p:nvPr/>
        </p:nvSpPr>
        <p:spPr>
          <a:xfrm>
            <a:off x="502920" y="1508760"/>
            <a:ext cx="5257800" cy="4526280"/>
          </a:xfrm>
          <a:prstGeom prst="rect">
            <a:avLst/>
          </a:prstGeom>
          <a:solidFill>
            <a:srgbClr val="FFFFFF"/>
          </a:solidFill>
          <a:ln w="14605"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CCC83F-6BC5-4730-2C8C-0909D9679667}"/>
              </a:ext>
            </a:extLst>
          </p:cNvPr>
          <p:cNvSpPr txBox="1"/>
          <p:nvPr/>
        </p:nvSpPr>
        <p:spPr>
          <a:xfrm>
            <a:off x="731520" y="1719072"/>
            <a:ext cx="475488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2A170F"/>
                </a:solidFill>
                <a:latin typeface="Aptos Display" panose="020B0004020202020204" pitchFamily="34" charset="0"/>
              </a:rPr>
              <a:t>Hardware / Platform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D80DCB-6294-ABBE-42BC-887AE89E13B3}"/>
              </a:ext>
            </a:extLst>
          </p:cNvPr>
          <p:cNvSpPr txBox="1"/>
          <p:nvPr/>
        </p:nvSpPr>
        <p:spPr>
          <a:xfrm>
            <a:off x="704088" y="2103120"/>
            <a:ext cx="4709160" cy="141577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IN" sz="1600">
                <a:solidFill>
                  <a:srgbClr val="3B291E"/>
                </a:solidFill>
                <a:latin typeface="Aptos" panose="020B0004020202020204" pitchFamily="34" charset="0"/>
              </a:rPr>
              <a:t>Windows 11 workstation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IN" sz="1600">
                <a:solidFill>
                  <a:srgbClr val="3B291E"/>
                </a:solidFill>
                <a:latin typeface="Aptos" panose="020B0004020202020204" pitchFamily="34" charset="0"/>
              </a:rPr>
              <a:t>JDK 11+ capable environment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IN" sz="1600">
                <a:solidFill>
                  <a:srgbClr val="3B291E"/>
                </a:solidFill>
                <a:latin typeface="Aptos" panose="020B0004020202020204" pitchFamily="34" charset="0"/>
              </a:rPr>
              <a:t>Modern browser for HTML visualization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IN" sz="1600">
                <a:solidFill>
                  <a:srgbClr val="3B291E"/>
                </a:solidFill>
                <a:latin typeface="Aptos" panose="020B0004020202020204" pitchFamily="34" charset="0"/>
              </a:rPr>
              <a:t>Sufficient memory for large graph traversals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FEEBFC-A3CF-FF1A-7BB6-03FA5F525109}"/>
              </a:ext>
            </a:extLst>
          </p:cNvPr>
          <p:cNvSpPr/>
          <p:nvPr/>
        </p:nvSpPr>
        <p:spPr>
          <a:xfrm>
            <a:off x="6080760" y="1508760"/>
            <a:ext cx="5257800" cy="4526280"/>
          </a:xfrm>
          <a:prstGeom prst="rect">
            <a:avLst/>
          </a:prstGeom>
          <a:solidFill>
            <a:srgbClr val="FCFAF8"/>
          </a:solidFill>
          <a:ln w="14605"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312E28-7E55-B3BA-0DBC-7849ED83651C}"/>
              </a:ext>
            </a:extLst>
          </p:cNvPr>
          <p:cNvSpPr txBox="1"/>
          <p:nvPr/>
        </p:nvSpPr>
        <p:spPr>
          <a:xfrm>
            <a:off x="6309360" y="1719072"/>
            <a:ext cx="475488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2A170F"/>
                </a:solidFill>
                <a:latin typeface="Aptos Display" panose="020B0004020202020204" pitchFamily="34" charset="0"/>
              </a:rPr>
              <a:t>Software Stack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9CE299-BA16-E778-8E8F-15600CF2064E}"/>
              </a:ext>
            </a:extLst>
          </p:cNvPr>
          <p:cNvSpPr txBox="1"/>
          <p:nvPr/>
        </p:nvSpPr>
        <p:spPr>
          <a:xfrm>
            <a:off x="6281928" y="2103120"/>
            <a:ext cx="470916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Java compiler and runtime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PowerShell-based CLI workflow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Microsoft Office 2021 for polished report generation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Optional browser-based visualization using vis-network</a:t>
            </a:r>
            <a:endParaRPr lang="en-IN" sz="1600">
              <a:solidFill>
                <a:srgbClr val="3B291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380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160FD9-543B-861B-4BD7-64098B7D876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BBC038-A876-B90D-24FF-E0EE3E32561D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17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F948C4-32F4-17AF-B64A-7416545FFEBC}"/>
              </a:ext>
            </a:extLst>
          </p:cNvPr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6E76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D696B7-EA6E-D043-C142-CFEC0A7CE33B}"/>
              </a:ext>
            </a:extLst>
          </p:cNvPr>
          <p:cNvSpPr txBox="1"/>
          <p:nvPr/>
        </p:nvSpPr>
        <p:spPr>
          <a:xfrm>
            <a:off x="411480" y="155448"/>
            <a:ext cx="804672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Applications And Use Cases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AB2E8C-D9E9-C6BA-E30D-CCDDB1C823BF}"/>
              </a:ext>
            </a:extLst>
          </p:cNvPr>
          <p:cNvSpPr txBox="1"/>
          <p:nvPr/>
        </p:nvSpPr>
        <p:spPr>
          <a:xfrm>
            <a:off x="438912" y="1097280"/>
            <a:ext cx="1078992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695547"/>
                </a:solidFill>
                <a:latin typeface="Aptos" panose="020B0004020202020204" pitchFamily="34" charset="0"/>
              </a:rPr>
              <a:t>Where this analysis is useful</a:t>
            </a:r>
            <a:endParaRPr lang="en-IN" sz="1100">
              <a:solidFill>
                <a:srgbClr val="695547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DA0D81-039E-40B6-AE14-F8456FA134AD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0E8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9CD449-F142-D8FF-849E-FDBC42893B09}"/>
              </a:ext>
            </a:extLst>
          </p:cNvPr>
          <p:cNvSpPr txBox="1"/>
          <p:nvPr/>
        </p:nvSpPr>
        <p:spPr>
          <a:xfrm>
            <a:off x="384048" y="6574536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>
                <a:solidFill>
                  <a:srgbClr val="554133"/>
                </a:solidFill>
                <a:latin typeface="Aptos" panose="020B0004020202020204" pitchFamily="34" charset="0"/>
              </a:rPr>
              <a:t>Articulation Point Analysis | DAA PBL | Code Crew Nexus</a:t>
            </a:r>
            <a:endParaRPr lang="en-IN" sz="900">
              <a:solidFill>
                <a:srgbClr val="554133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F83485-ED55-122E-7EDA-0E9C8041CC21}"/>
              </a:ext>
            </a:extLst>
          </p:cNvPr>
          <p:cNvSpPr/>
          <p:nvPr/>
        </p:nvSpPr>
        <p:spPr>
          <a:xfrm>
            <a:off x="502920" y="1417320"/>
            <a:ext cx="11064240" cy="4754880"/>
          </a:xfrm>
          <a:prstGeom prst="rect">
            <a:avLst/>
          </a:prstGeom>
          <a:solidFill>
            <a:srgbClr val="FFFFFF"/>
          </a:solidFill>
          <a:ln w="15875"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DC0607-112D-DBA5-EF87-55384ADB3F3A}"/>
              </a:ext>
            </a:extLst>
          </p:cNvPr>
          <p:cNvSpPr txBox="1"/>
          <p:nvPr/>
        </p:nvSpPr>
        <p:spPr>
          <a:xfrm>
            <a:off x="822960" y="1691640"/>
            <a:ext cx="10241280" cy="24468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3B291E"/>
                </a:solidFill>
                <a:latin typeface="Aptos" panose="020B0004020202020204" pitchFamily="34" charset="0"/>
              </a:rPr>
              <a:t>Network design: identify routers, servers, or edges that behave like structural bottlenecks.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3B291E"/>
                </a:solidFill>
                <a:latin typeface="Aptos" panose="020B0004020202020204" pitchFamily="34" charset="0"/>
              </a:rPr>
              <a:t>Infrastructure planning: reason about failure sensitivity in utility, social, or dependency graphs.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3B291E"/>
                </a:solidFill>
                <a:latin typeface="Aptos" panose="020B0004020202020204" pitchFamily="34" charset="0"/>
              </a:rPr>
              <a:t>Education: demonstrate articulation points, low-link values, and biconnected components with concrete output.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3B291E"/>
                </a:solidFill>
                <a:latin typeface="Aptos" panose="020B0004020202020204" pitchFamily="34" charset="0"/>
              </a:rPr>
              <a:t>Algorithmic experimentation: compare synthetic scale-free behavior against curated example graphs.</a:t>
            </a:r>
            <a:endParaRPr lang="en-IN" sz="1900">
              <a:solidFill>
                <a:srgbClr val="3B291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752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9BC55C-2ED8-DD3F-0E1D-BDE1D91E42B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3098B7-C1BB-6FEC-5C91-8606DC6A2E92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17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8F57DA-F56D-6541-B2AA-31D34BB9C7FB}"/>
              </a:ext>
            </a:extLst>
          </p:cNvPr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6E76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36BFD-80B8-B302-2607-B5B8F0590BF3}"/>
              </a:ext>
            </a:extLst>
          </p:cNvPr>
          <p:cNvSpPr txBox="1"/>
          <p:nvPr/>
        </p:nvSpPr>
        <p:spPr>
          <a:xfrm>
            <a:off x="411480" y="155448"/>
            <a:ext cx="804672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 Display" panose="020B0004020202020204" pitchFamily="34" charset="0"/>
              </a:rPr>
              <a:t>Strengths, Limits, And Next Steps</a:t>
            </a:r>
            <a:endParaRPr lang="en-IN" sz="24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B526AC-DF19-BD1D-B606-82A1F539591B}"/>
              </a:ext>
            </a:extLst>
          </p:cNvPr>
          <p:cNvSpPr txBox="1"/>
          <p:nvPr/>
        </p:nvSpPr>
        <p:spPr>
          <a:xfrm>
            <a:off x="438912" y="1097280"/>
            <a:ext cx="1078992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695547"/>
                </a:solidFill>
                <a:latin typeface="Aptos" panose="020B0004020202020204" pitchFamily="34" charset="0"/>
              </a:rPr>
              <a:t>Current status and natural extension points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C35BFC-278F-E58A-B0EF-1B1061A28116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0E8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C45D2A-04D6-3FDF-AAB4-A09B51AAA865}"/>
              </a:ext>
            </a:extLst>
          </p:cNvPr>
          <p:cNvSpPr txBox="1"/>
          <p:nvPr/>
        </p:nvSpPr>
        <p:spPr>
          <a:xfrm>
            <a:off x="384048" y="6574536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>
                <a:solidFill>
                  <a:srgbClr val="554133"/>
                </a:solidFill>
                <a:latin typeface="Aptos" panose="020B0004020202020204" pitchFamily="34" charset="0"/>
              </a:rPr>
              <a:t>Articulation Point Analysis | DAA PBL | Code Crew Nexus</a:t>
            </a:r>
            <a:endParaRPr lang="en-IN" sz="900">
              <a:solidFill>
                <a:srgbClr val="554133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90FE9C-ABF4-D407-D862-3A0F3D31CC71}"/>
              </a:ext>
            </a:extLst>
          </p:cNvPr>
          <p:cNvSpPr/>
          <p:nvPr/>
        </p:nvSpPr>
        <p:spPr>
          <a:xfrm>
            <a:off x="502920" y="1508760"/>
            <a:ext cx="5257800" cy="4526280"/>
          </a:xfrm>
          <a:prstGeom prst="rect">
            <a:avLst/>
          </a:prstGeom>
          <a:solidFill>
            <a:srgbClr val="FFFFFF"/>
          </a:solidFill>
          <a:ln w="14605"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0B56F1-B486-71BE-9272-5244555E815E}"/>
              </a:ext>
            </a:extLst>
          </p:cNvPr>
          <p:cNvSpPr txBox="1"/>
          <p:nvPr/>
        </p:nvSpPr>
        <p:spPr>
          <a:xfrm>
            <a:off x="731520" y="1719072"/>
            <a:ext cx="475488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2A170F"/>
                </a:solidFill>
                <a:latin typeface="Aptos Display" panose="020B0004020202020204" pitchFamily="34" charset="0"/>
              </a:rPr>
              <a:t>Current Strengths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F32A6E-92B0-6DEE-9A58-6E1D4B0113BA}"/>
              </a:ext>
            </a:extLst>
          </p:cNvPr>
          <p:cNvSpPr txBox="1"/>
          <p:nvPr/>
        </p:nvSpPr>
        <p:spPr>
          <a:xfrm>
            <a:off x="704088" y="2103120"/>
            <a:ext cx="470916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Linear-time DFS analysis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Iterative implementation avoids recursion overflow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Rich CLI summary and visual export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Cleaner documentation and reproducible Office assets</a:t>
            </a:r>
            <a:endParaRPr lang="en-IN" sz="1600">
              <a:solidFill>
                <a:srgbClr val="3B291E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E6812C-5599-738C-2DF1-CE791B9F3E6D}"/>
              </a:ext>
            </a:extLst>
          </p:cNvPr>
          <p:cNvSpPr/>
          <p:nvPr/>
        </p:nvSpPr>
        <p:spPr>
          <a:xfrm>
            <a:off x="6080760" y="1508760"/>
            <a:ext cx="5257800" cy="4526280"/>
          </a:xfrm>
          <a:prstGeom prst="rect">
            <a:avLst/>
          </a:prstGeom>
          <a:solidFill>
            <a:srgbClr val="FCFAF8"/>
          </a:solidFill>
          <a:ln w="14605"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83A8C5-15BC-3D16-9399-7B0DE8ABBBD3}"/>
              </a:ext>
            </a:extLst>
          </p:cNvPr>
          <p:cNvSpPr txBox="1"/>
          <p:nvPr/>
        </p:nvSpPr>
        <p:spPr>
          <a:xfrm>
            <a:off x="6309360" y="1719072"/>
            <a:ext cx="475488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2A170F"/>
                </a:solidFill>
                <a:latin typeface="Aptos Display" panose="020B0004020202020204" pitchFamily="34" charset="0"/>
              </a:rPr>
              <a:t>Future Scope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32C910-951F-5F23-28AF-0FEECAF49607}"/>
              </a:ext>
            </a:extLst>
          </p:cNvPr>
          <p:cNvSpPr txBox="1"/>
          <p:nvPr/>
        </p:nvSpPr>
        <p:spPr>
          <a:xfrm>
            <a:off x="6281928" y="2103120"/>
            <a:ext cx="4709160" cy="16619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Unit tests for canonical graph families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JSON and CSV export of analysis results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Explicit bridge detection as a first-class report item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 sz="1600">
                <a:solidFill>
                  <a:srgbClr val="3B291E"/>
                </a:solidFill>
                <a:latin typeface="Aptos" panose="020B0004020202020204" pitchFamily="34" charset="0"/>
              </a:rPr>
              <a:t>Benchmarks on larger generated graphs</a:t>
            </a:r>
            <a:endParaRPr lang="en-IN" sz="1600">
              <a:solidFill>
                <a:srgbClr val="3B291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183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67F35F-7EF7-938B-6EA6-DD21BDA3EBA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FD135F-9953-4EDF-7227-C10B3E08A551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17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5F7175-0045-ED61-57BA-7C0F33FC3115}"/>
              </a:ext>
            </a:extLst>
          </p:cNvPr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6E760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51AC6D-8265-74DD-3324-32D3888F1FB2}"/>
              </a:ext>
            </a:extLst>
          </p:cNvPr>
          <p:cNvSpPr txBox="1"/>
          <p:nvPr/>
        </p:nvSpPr>
        <p:spPr>
          <a:xfrm>
            <a:off x="411480" y="155448"/>
            <a:ext cx="804672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DD471C-4B82-CA35-8AE1-4F9EE70C4E74}"/>
              </a:ext>
            </a:extLst>
          </p:cNvPr>
          <p:cNvSpPr txBox="1"/>
          <p:nvPr/>
        </p:nvSpPr>
        <p:spPr>
          <a:xfrm>
            <a:off x="438912" y="1097280"/>
            <a:ext cx="1078992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695547"/>
                </a:solidFill>
                <a:latin typeface="Aptos" panose="020B0004020202020204" pitchFamily="34" charset="0"/>
              </a:rPr>
              <a:t>Project outcome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30435F-02BD-0283-4874-A51C4007F8C7}"/>
              </a:ext>
            </a:extLst>
          </p:cNvPr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0E8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A56EB6-47AD-1067-4E0C-622BA3CC8E03}"/>
              </a:ext>
            </a:extLst>
          </p:cNvPr>
          <p:cNvSpPr txBox="1"/>
          <p:nvPr/>
        </p:nvSpPr>
        <p:spPr>
          <a:xfrm>
            <a:off x="384048" y="6574536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900">
                <a:solidFill>
                  <a:srgbClr val="554133"/>
                </a:solidFill>
                <a:latin typeface="Aptos" panose="020B0004020202020204" pitchFamily="34" charset="0"/>
              </a:rPr>
              <a:t>Articulation Point Analysis | DAA PBL | Code Crew Nexus</a:t>
            </a:r>
            <a:endParaRPr lang="en-IN" sz="900">
              <a:solidFill>
                <a:srgbClr val="554133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33FD77-8648-141A-3BBC-DC61F2908C66}"/>
              </a:ext>
            </a:extLst>
          </p:cNvPr>
          <p:cNvSpPr/>
          <p:nvPr/>
        </p:nvSpPr>
        <p:spPr>
          <a:xfrm>
            <a:off x="502920" y="1417320"/>
            <a:ext cx="11064240" cy="4754880"/>
          </a:xfrm>
          <a:prstGeom prst="rect">
            <a:avLst/>
          </a:prstGeom>
          <a:solidFill>
            <a:srgbClr val="FFFFFF"/>
          </a:solidFill>
          <a:ln w="15875">
            <a:solidFill>
              <a:srgbClr val="E1D5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807FBE-FC2A-C58D-0A23-BBC2BC14F2E5}"/>
              </a:ext>
            </a:extLst>
          </p:cNvPr>
          <p:cNvSpPr txBox="1"/>
          <p:nvPr/>
        </p:nvSpPr>
        <p:spPr>
          <a:xfrm>
            <a:off x="822960" y="1691640"/>
            <a:ext cx="10241280" cy="20518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3B291E"/>
                </a:solidFill>
                <a:latin typeface="Aptos" panose="020B0004020202020204" pitchFamily="34" charset="0"/>
              </a:rPr>
              <a:t>The project has moved beyond articulation-point-only analysis and now explains both failure points and robust graph structure.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3B291E"/>
                </a:solidFill>
                <a:latin typeface="Aptos" panose="020B0004020202020204" pitchFamily="34" charset="0"/>
              </a:rPr>
              <a:t>Biconnected-component extraction makes the DAA PBL more complete, more demonstrative, and more professionally presentable.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3B291E"/>
                </a:solidFill>
                <a:latin typeface="Aptos" panose="020B0004020202020204" pitchFamily="34" charset="0"/>
              </a:rPr>
              <a:t>The final deliverable now includes source code, HTML visualization, detailed README, project analysis notes, a richer PowerPoint deck, and a formal Word report.</a:t>
            </a:r>
            <a:endParaRPr lang="en-IN" sz="1900">
              <a:solidFill>
                <a:srgbClr val="3B291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260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1299</Words>
  <Application>Microsoft Office PowerPoint</Application>
  <PresentationFormat>Widescreen</PresentationFormat>
  <Paragraphs>170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RISHIT GHOSH</dc:creator>
  <cp:lastModifiedBy>RISHIT GHOSH</cp:lastModifiedBy>
  <cp:revision>1</cp:revision>
  <dcterms:created xsi:type="dcterms:W3CDTF">2026-04-05T18:26:26Z</dcterms:created>
  <dcterms:modified xsi:type="dcterms:W3CDTF">2026-04-05T18:26:26Z</dcterms:modified>
</cp:coreProperties>
</file>